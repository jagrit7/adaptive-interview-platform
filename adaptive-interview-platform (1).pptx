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AI plays every interviewer. The backend does all the deciding and scoring.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Availability, shallowness, unrepeatable feedback, and no way to encode a team's own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left column is the differentiator: the panel encodes a team's own bar rather than a generic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candidate only sees the last three steps. The first three are the interviewer's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Triggers are free text evaluated semantically, not keyword matched.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 was declared, editable, displayed — and read by nothing — until this formula started using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STT language is fixed when the session joins, which is why language is panel-level rather than per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Per-agent voices would need four concurrent agents in the channel — a much larger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empty competency list used to retire an agent after a single question — hence the defaults.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extra API keys enter the deployment for speech.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amber block is the honest one: without a human agreement study these are practice scores.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architectural claim — it is what distinguishes this from a prompt wrapper.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38944" y="3008376"/>
            <a:ext cx="-822960" cy="-1307592"/>
          </a:xfrm>
          <a:prstGeom prst="line">
            <a:avLst/>
          </a:prstGeom>
          <a:noFill/>
          <a:ln w="12700">
            <a:solidFill>
              <a:srgbClr val="3550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8944" y="3008376"/>
            <a:ext cx="822960" cy="-438912"/>
          </a:xfrm>
          <a:prstGeom prst="line">
            <a:avLst/>
          </a:prstGeom>
          <a:noFill/>
          <a:ln w="12700">
            <a:solidFill>
              <a:srgbClr val="3550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38944" y="3008376"/>
            <a:ext cx="-822960" cy="429768"/>
          </a:xfrm>
          <a:prstGeom prst="line">
            <a:avLst/>
          </a:prstGeom>
          <a:noFill/>
          <a:ln w="12700">
            <a:solidFill>
              <a:srgbClr val="3550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38944" y="3008376"/>
            <a:ext cx="822960" cy="1298448"/>
          </a:xfrm>
          <a:prstGeom prst="line">
            <a:avLst/>
          </a:prstGeom>
          <a:noFill/>
          <a:ln w="12700">
            <a:solidFill>
              <a:srgbClr val="3550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0" y="1417320"/>
            <a:ext cx="566928" cy="566928"/>
          </a:xfrm>
          <a:prstGeom prst="ellipse">
            <a:avLst/>
          </a:prstGeom>
          <a:solidFill>
            <a:srgbClr val="13233F"/>
          </a:solidFill>
          <a:ln w="12700">
            <a:solidFill>
              <a:srgbClr val="3550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78440" y="2286000"/>
            <a:ext cx="566928" cy="566928"/>
          </a:xfrm>
          <a:prstGeom prst="ellipse">
            <a:avLst/>
          </a:prstGeom>
          <a:solidFill>
            <a:srgbClr val="13233F"/>
          </a:solidFill>
          <a:ln w="12700">
            <a:solidFill>
              <a:srgbClr val="3550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3154680"/>
            <a:ext cx="566928" cy="566928"/>
          </a:xfrm>
          <a:prstGeom prst="ellipse">
            <a:avLst/>
          </a:prstGeom>
          <a:solidFill>
            <a:srgbClr val="13233F"/>
          </a:solidFill>
          <a:ln w="12700">
            <a:solidFill>
              <a:srgbClr val="3550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78440" y="4023360"/>
            <a:ext cx="566928" cy="566928"/>
          </a:xfrm>
          <a:prstGeom prst="ellipse">
            <a:avLst/>
          </a:prstGeom>
          <a:solidFill>
            <a:srgbClr val="13233F"/>
          </a:solidFill>
          <a:ln w="12700">
            <a:solidFill>
              <a:srgbClr val="3550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55480" y="2724912"/>
            <a:ext cx="566928" cy="566928"/>
          </a:xfrm>
          <a:prstGeom prst="ellipse">
            <a:avLst/>
          </a:prstGeom>
          <a:solidFill>
            <a:srgbClr val="1D3557"/>
          </a:solidFill>
          <a:ln w="20320">
            <a:solidFill>
              <a:srgbClr val="6D9B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6D9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ADAPTIVE INTERVIEW PLATFORM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19456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5F8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interview panel</a:t>
            </a:r>
            <a:endParaRPr lang="en-US" sz="5000" dirty="0"/>
          </a:p>
          <a:p>
            <a:pPr algn="l"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5F8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adapts.</a:t>
            </a:r>
            <a:endParaRPr lang="en-US" sz="5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114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B3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AI interviewers in one live voice session. They hand off to each other, probe what you left out, and grade against an answer key you wrote.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5349240"/>
            <a:ext cx="7040880" cy="0"/>
          </a:xfrm>
          <a:prstGeom prst="line">
            <a:avLst/>
          </a:prstGeom>
          <a:noFill/>
          <a:ln w="12700">
            <a:solidFill>
              <a:srgbClr val="35507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5513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589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walkthrough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2C5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PROBLEM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68096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is either unavailable or too shallow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4617720" cy="3977640"/>
          </a:xfrm>
          <a:prstGeom prst="roundRect">
            <a:avLst>
              <a:gd name="adj" fmla="val 1149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61288" y="214884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100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mock panel means finding three or four experienced engineers with a free hour.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161288" y="36118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candidates never get one. The ones who do get it once, days before it counts.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161288" y="5138928"/>
            <a:ext cx="137160" cy="137160"/>
          </a:xfrm>
          <a:prstGeom prst="ellipse">
            <a:avLst/>
          </a:prstGeom>
          <a:solidFill>
            <a:srgbClr val="2C5B9E"/>
          </a:solidFill>
          <a:ln w="12700">
            <a:solidFill>
              <a:srgbClr val="2C5B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35608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2C5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AVAILABILITY PROBLEM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18928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996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8745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chatbot is not a panel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240280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mock interviews are a single voice asking generic questions. A real panel is several specialists who interrupt each other, probe, and hand over.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0" y="3054096"/>
            <a:ext cx="5486400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0" y="32644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996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2461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that cannot be acted on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611880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did fine.” No competency breakdown, no answer key, and two runs of the same answer land on different scores.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0" y="4425696"/>
            <a:ext cx="5486400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0" y="46360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996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617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encode your own bar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983480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hiring team’s rubric lives in their heads. Nothing lets them hand a system their questions, their ideal answers, and their pass marks.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2C5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SOLUTION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68096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panel once. Run it on demand.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26464"/>
            <a:ext cx="9720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configure on the left becomes what the system does on the right.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C7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CONFIGURE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057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1F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RUNS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871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 personas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61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prompt, difficulty band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94960" y="2706624"/>
            <a:ext cx="1051560" cy="0"/>
          </a:xfrm>
          <a:prstGeom prst="line">
            <a:avLst/>
          </a:prstGeom>
          <a:noFill/>
          <a:ln w="17780">
            <a:solidFill>
              <a:srgbClr val="2C5B9E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6675120" y="2487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voice session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7614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 just talks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200400"/>
            <a:ext cx="106344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4564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bank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7307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Q&amp;A, uploaded as a file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3675888"/>
            <a:ext cx="1051560" cy="0"/>
          </a:xfrm>
          <a:prstGeom prst="line">
            <a:avLst/>
          </a:prstGeom>
          <a:noFill/>
          <a:ln w="17780">
            <a:solidFill>
              <a:srgbClr val="2C5B9E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675120" y="3456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handoffs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37307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speaks next, decided per answer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4169664"/>
            <a:ext cx="106344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42569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70001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weights and pass marks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94960" y="4645152"/>
            <a:ext cx="1051560" cy="0"/>
          </a:xfrm>
          <a:prstGeom prst="line">
            <a:avLst/>
          </a:prstGeom>
          <a:noFill/>
          <a:ln w="17780">
            <a:solidFill>
              <a:srgbClr val="2C5B9E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6675120" y="44256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scoring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47000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your answers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5138928"/>
            <a:ext cx="106344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3949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rules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669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plain English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94960" y="5614416"/>
            <a:ext cx="1051560" cy="0"/>
          </a:xfrm>
          <a:prstGeom prst="line">
            <a:avLst/>
          </a:prstGeom>
          <a:noFill/>
          <a:ln w="17780">
            <a:solidFill>
              <a:srgbClr val="2C5B9E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6675120" y="5394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report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5669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checklist, transcript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2C5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WALKTHROUGH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68096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end, from the user’s side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26464"/>
            <a:ext cx="9720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 to 3 are setup. The candidate only ever sees 4 to 6.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60120" y="3931920"/>
            <a:ext cx="1026871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8448" y="379476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B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5608" y="3630168"/>
            <a:ext cx="0" cy="164592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9933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5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2677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761488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 are saved to your account.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35808" y="379476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B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4069080"/>
            <a:ext cx="0" cy="164592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95728" y="43708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5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350008" y="46451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panel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5138928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interviewers, pick roles, choose one language.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73168" y="379476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C7A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10328" y="3630168"/>
            <a:ext cx="0" cy="164592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33088" y="19933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7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087368" y="22677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question bank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069080" y="2761488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can carry an ideal answer.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10528" y="379476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C7A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47688" y="4069080"/>
            <a:ext cx="0" cy="164592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70448" y="43708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7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824728" y="46451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interview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5138928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 takes a name, issues a code: AIP-8F3K2Q.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47888" y="379476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7A7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85048" y="3630168"/>
            <a:ext cx="0" cy="164592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07808" y="19933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562088" y="22677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543800" y="2761488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in real time. They ask, probe, hand off.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985248" y="379476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7A7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22408" y="4069080"/>
            <a:ext cx="0" cy="164592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345168" y="43708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299448" y="46451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report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281160" y="5138928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checklist, breakdown, transcript.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6035040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between step 4 and step 6 happens without anyone touching it.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2C5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ORCHESTRATOR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68096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questions, asked in order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26464"/>
            <a:ext cx="9720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stops at the first yes. This runs once per candidate answer.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069080" y="201168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2F5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23944" y="205740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answer arrives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15000" y="2487168"/>
            <a:ext cx="0" cy="219456"/>
          </a:xfrm>
          <a:prstGeom prst="line">
            <a:avLst/>
          </a:prstGeom>
          <a:noFill/>
          <a:ln w="17780">
            <a:solidFill>
              <a:srgbClr val="DCE3E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46120" y="2724912"/>
            <a:ext cx="4937760" cy="786384"/>
          </a:xfrm>
          <a:prstGeom prst="roundRect">
            <a:avLst>
              <a:gd name="adj" fmla="val 6977"/>
            </a:avLst>
          </a:prstGeom>
          <a:solidFill>
            <a:srgbClr val="F2F5FA"/>
          </a:solidFill>
          <a:ln w="12700">
            <a:solidFill>
              <a:srgbClr val="2C5B9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00984" y="2770632"/>
            <a:ext cx="48280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 Did another interviewer’s trigger fire?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19272" y="3145536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conditions, judged semantically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732520" y="2752344"/>
            <a:ext cx="2679192" cy="731520"/>
          </a:xfrm>
          <a:prstGeom prst="roundRect">
            <a:avLst>
              <a:gd name="adj" fmla="val 7500"/>
            </a:avLst>
          </a:prstGeom>
          <a:solidFill>
            <a:srgbClr val="F2F5FA"/>
          </a:solidFill>
          <a:ln w="12700">
            <a:solidFill>
              <a:srgbClr val="9C7A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87384" y="2798064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805672" y="314553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mid-visit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57032" y="3118104"/>
            <a:ext cx="438912" cy="0"/>
          </a:xfrm>
          <a:prstGeom prst="line">
            <a:avLst/>
          </a:prstGeom>
          <a:noFill/>
          <a:ln w="17780">
            <a:solidFill>
              <a:srgbClr val="9C7A33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8220456" y="27980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15000" y="3547872"/>
            <a:ext cx="0" cy="329184"/>
          </a:xfrm>
          <a:prstGeom prst="line">
            <a:avLst/>
          </a:prstGeom>
          <a:noFill/>
          <a:ln w="17780">
            <a:solidFill>
              <a:srgbClr val="DCE3EE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824728" y="358444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3950208"/>
            <a:ext cx="4937760" cy="786384"/>
          </a:xfrm>
          <a:prstGeom prst="roundRect">
            <a:avLst>
              <a:gd name="adj" fmla="val 6977"/>
            </a:avLst>
          </a:prstGeom>
          <a:solidFill>
            <a:srgbClr val="F2F5FA"/>
          </a:solidFill>
          <a:ln w="12700">
            <a:solidFill>
              <a:srgbClr val="2C5B9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00984" y="3995928"/>
            <a:ext cx="48280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 Is this interviewer done?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319272" y="4370832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turns  ·  satisfied  ·  bank empty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732520" y="3977640"/>
            <a:ext cx="2679192" cy="731520"/>
          </a:xfrm>
          <a:prstGeom prst="roundRect">
            <a:avLst>
              <a:gd name="adj" fmla="val 7500"/>
            </a:avLst>
          </a:prstGeom>
          <a:solidFill>
            <a:srgbClr val="F2F5FA"/>
          </a:solidFill>
          <a:ln w="12700">
            <a:solidFill>
              <a:srgbClr val="9C7A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787384" y="4023360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in queue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805672" y="4370832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finish, if empty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57032" y="4343400"/>
            <a:ext cx="438912" cy="0"/>
          </a:xfrm>
          <a:prstGeom prst="line">
            <a:avLst/>
          </a:prstGeom>
          <a:noFill/>
          <a:ln w="17780">
            <a:solidFill>
              <a:srgbClr val="9C7A33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8220456" y="40233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715000" y="4773168"/>
            <a:ext cx="0" cy="329184"/>
          </a:xfrm>
          <a:prstGeom prst="line">
            <a:avLst/>
          </a:prstGeom>
          <a:noFill/>
          <a:ln w="17780">
            <a:solidFill>
              <a:srgbClr val="DCE3EE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5824728" y="480974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5175504"/>
            <a:ext cx="4937760" cy="786384"/>
          </a:xfrm>
          <a:prstGeom prst="roundRect">
            <a:avLst>
              <a:gd name="adj" fmla="val 6977"/>
            </a:avLst>
          </a:prstGeom>
          <a:solidFill>
            <a:srgbClr val="F2F5FA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300984" y="5221224"/>
            <a:ext cx="48280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 Keep going — same interviewer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319272" y="5596128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bank question, or a probe shaped by what was missed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27249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8996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IT OWNS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77240" y="3200400"/>
            <a:ext cx="82296" cy="82296"/>
          </a:xfrm>
          <a:prstGeom prst="ellipse">
            <a:avLst/>
          </a:prstGeom>
          <a:solidFill>
            <a:srgbClr val="2C5B9E"/>
          </a:solidFill>
          <a:ln w="12700">
            <a:solidFill>
              <a:srgbClr val="2C5B9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96696" y="31272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 of who is left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7240" y="3602736"/>
            <a:ext cx="82296" cy="82296"/>
          </a:xfrm>
          <a:prstGeom prst="ellipse">
            <a:avLst/>
          </a:prstGeom>
          <a:solidFill>
            <a:srgbClr val="2C5B9E"/>
          </a:solidFill>
          <a:ln w="12700">
            <a:solidFill>
              <a:srgbClr val="2C5B9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96696" y="352958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 per competency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77240" y="4005072"/>
            <a:ext cx="82296" cy="82296"/>
          </a:xfrm>
          <a:prstGeom prst="ellipse">
            <a:avLst/>
          </a:prstGeom>
          <a:solidFill>
            <a:srgbClr val="2C5B9E"/>
          </a:solidFill>
          <a:ln w="12700">
            <a:solidFill>
              <a:srgbClr val="2C5B9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96696" y="39319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used, per agent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77240" y="4407408"/>
            <a:ext cx="82296" cy="82296"/>
          </a:xfrm>
          <a:prstGeom prst="ellipse">
            <a:avLst/>
          </a:prstGeom>
          <a:solidFill>
            <a:srgbClr val="2C5B9E"/>
          </a:solidFill>
          <a:ln w="12700">
            <a:solidFill>
              <a:srgbClr val="2C5B9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96696" y="433425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questions already asked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77240" y="4809744"/>
            <a:ext cx="82296" cy="82296"/>
          </a:xfrm>
          <a:prstGeom prst="ellipse">
            <a:avLst/>
          </a:prstGeom>
          <a:solidFill>
            <a:srgbClr val="2C5B9E"/>
          </a:solidFill>
          <a:ln w="12700">
            <a:solidFill>
              <a:srgbClr val="2C5B9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96696" y="47365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transcript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77240" y="6199632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 ends three ways: satisfied (retired), out of turns (requeued), or bank empty (retired).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2C5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SCORER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68096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model call, three jobs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26464"/>
            <a:ext cx="9720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them would double the pause the candidate sits through.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2743200" cy="749808"/>
          </a:xfrm>
          <a:prstGeom prst="roundRect">
            <a:avLst>
              <a:gd name="adj" fmla="val 6098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3042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578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just said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11880" y="2569464"/>
            <a:ext cx="713232" cy="557784"/>
          </a:xfrm>
          <a:prstGeom prst="line">
            <a:avLst/>
          </a:prstGeom>
          <a:noFill/>
          <a:ln w="17780">
            <a:solidFill>
              <a:srgbClr val="2C5B9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7240" y="3154680"/>
            <a:ext cx="2743200" cy="749808"/>
          </a:xfrm>
          <a:prstGeom prst="roundRect">
            <a:avLst>
              <a:gd name="adj" fmla="val 6098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78408" y="3264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transcript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78408" y="3538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so far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11880" y="3529584"/>
            <a:ext cx="713232" cy="-402336"/>
          </a:xfrm>
          <a:prstGeom prst="line">
            <a:avLst/>
          </a:prstGeom>
          <a:noFill/>
          <a:ln w="17780">
            <a:solidFill>
              <a:srgbClr val="2C5B9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7240" y="4114800"/>
            <a:ext cx="2743200" cy="749808"/>
          </a:xfrm>
          <a:prstGeom prst="roundRect">
            <a:avLst>
              <a:gd name="adj" fmla="val 6098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78408" y="42245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ideal answer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78408" y="4498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bank is loaded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11880" y="4489704"/>
            <a:ext cx="713232" cy="-1362456"/>
          </a:xfrm>
          <a:prstGeom prst="line">
            <a:avLst/>
          </a:prstGeom>
          <a:noFill/>
          <a:ln w="17780">
            <a:solidFill>
              <a:srgbClr val="2C5B9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62272" y="2651760"/>
            <a:ext cx="2103120" cy="137160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 w="25400">
            <a:solidFill>
              <a:srgbClr val="2C5B9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17136" y="2697480"/>
            <a:ext cx="1993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5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535424" y="3364992"/>
            <a:ext cx="19568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0.2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635240" y="2194560"/>
            <a:ext cx="3776472" cy="749808"/>
          </a:xfrm>
          <a:prstGeom prst="roundRect">
            <a:avLst>
              <a:gd name="adj" fmla="val 6098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36408" y="23042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per competency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836408" y="25786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0.00–1.00, best-so-far kept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11112" y="3337560"/>
            <a:ext cx="960120" cy="-768096"/>
          </a:xfrm>
          <a:prstGeom prst="line">
            <a:avLst/>
          </a:prstGeom>
          <a:noFill/>
          <a:ln w="17780">
            <a:solidFill>
              <a:srgbClr val="1F7A7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635240" y="3154680"/>
            <a:ext cx="3776472" cy="749808"/>
          </a:xfrm>
          <a:prstGeom prst="roundRect">
            <a:avLst>
              <a:gd name="adj" fmla="val 6098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36408" y="32644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and what was missed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836408" y="35387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your ideal answer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11112" y="3337560"/>
            <a:ext cx="960120" cy="192024"/>
          </a:xfrm>
          <a:prstGeom prst="line">
            <a:avLst/>
          </a:prstGeom>
          <a:noFill/>
          <a:ln w="17780">
            <a:solidFill>
              <a:srgbClr val="1F7A7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635240" y="4114800"/>
            <a:ext cx="3776472" cy="749808"/>
          </a:xfrm>
          <a:prstGeom prst="roundRect">
            <a:avLst>
              <a:gd name="adj" fmla="val 6098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36408" y="42245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handoff triggers fired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836408" y="44988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someone else jump in?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11112" y="3337560"/>
            <a:ext cx="960120" cy="1152144"/>
          </a:xfrm>
          <a:prstGeom prst="line">
            <a:avLst/>
          </a:prstGeom>
          <a:noFill/>
          <a:ln w="17780">
            <a:solidFill>
              <a:srgbClr val="1F7A7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77240" y="5376672"/>
            <a:ext cx="106344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55955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C5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  =  Σ ( weight × score )  ÷  Σ weight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6126480" y="5504688"/>
            <a:ext cx="5285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 across agents, not the average — a competency checked twice is a property of the panel, not of the candidate. Weighted on raw scores rather than pass/fail: 0.79 against a 0.80 bar is not 0.10.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2C5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VOICE PIPELINE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68096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 in, speech out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26464"/>
            <a:ext cx="9720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setting configures all three machine stages.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2395728"/>
            <a:ext cx="1463040" cy="1078992"/>
          </a:xfrm>
          <a:prstGeom prst="roundRect">
            <a:avLst>
              <a:gd name="adj" fmla="val 5085"/>
            </a:avLst>
          </a:prstGeom>
          <a:solidFill>
            <a:srgbClr val="F2F5FA"/>
          </a:solidFill>
          <a:ln w="12700">
            <a:solidFill>
              <a:srgbClr val="8996A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2104" y="2441448"/>
            <a:ext cx="13533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2962656"/>
            <a:ext cx="13167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58568" y="2935224"/>
            <a:ext cx="109728" cy="0"/>
          </a:xfrm>
          <a:prstGeom prst="line">
            <a:avLst/>
          </a:prstGeom>
          <a:noFill/>
          <a:ln w="17780">
            <a:solidFill>
              <a:srgbClr val="8996A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86584" y="2395728"/>
            <a:ext cx="1463040" cy="1078992"/>
          </a:xfrm>
          <a:prstGeom prst="roundRect">
            <a:avLst>
              <a:gd name="adj" fmla="val 5085"/>
            </a:avLst>
          </a:prstGeom>
          <a:solidFill>
            <a:srgbClr val="F2F5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41448" y="2441448"/>
            <a:ext cx="13533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RTC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459736" y="2962656"/>
            <a:ext cx="13167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transport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67912" y="2935224"/>
            <a:ext cx="109728" cy="0"/>
          </a:xfrm>
          <a:prstGeom prst="line">
            <a:avLst/>
          </a:prstGeom>
          <a:noFill/>
          <a:ln w="17780">
            <a:solidFill>
              <a:srgbClr val="8996A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95928" y="2395728"/>
            <a:ext cx="1737360" cy="1078992"/>
          </a:xfrm>
          <a:prstGeom prst="roundRect">
            <a:avLst>
              <a:gd name="adj" fmla="val 5085"/>
            </a:avLst>
          </a:prstGeom>
          <a:solidFill>
            <a:srgbClr val="F2F5FA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50792" y="2441448"/>
            <a:ext cx="16276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 nova-3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2962656"/>
            <a:ext cx="15910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→ text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51576" y="2935224"/>
            <a:ext cx="109728" cy="0"/>
          </a:xfrm>
          <a:prstGeom prst="line">
            <a:avLst/>
          </a:prstGeom>
          <a:noFill/>
          <a:ln w="17780">
            <a:solidFill>
              <a:srgbClr val="8996A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79592" y="2249424"/>
            <a:ext cx="1947672" cy="137160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 w="20320">
            <a:solidFill>
              <a:srgbClr val="2C5B9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34456" y="2295144"/>
            <a:ext cx="18379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gpt-oss-20b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52744" y="2962656"/>
            <a:ext cx="1801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interviewer’s words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845552" y="2935224"/>
            <a:ext cx="109728" cy="0"/>
          </a:xfrm>
          <a:prstGeom prst="line">
            <a:avLst/>
          </a:prstGeom>
          <a:noFill/>
          <a:ln w="17780">
            <a:solidFill>
              <a:srgbClr val="8996A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973568" y="2395728"/>
            <a:ext cx="1828800" cy="1078992"/>
          </a:xfrm>
          <a:prstGeom prst="roundRect">
            <a:avLst>
              <a:gd name="adj" fmla="val 5085"/>
            </a:avLst>
          </a:prstGeom>
          <a:solidFill>
            <a:srgbClr val="F2F5FA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28432" y="2441448"/>
            <a:ext cx="17190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speech-2.6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2962656"/>
            <a:ext cx="16824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speech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820656" y="2935224"/>
            <a:ext cx="109728" cy="0"/>
          </a:xfrm>
          <a:prstGeom prst="line">
            <a:avLst/>
          </a:prstGeom>
          <a:noFill/>
          <a:ln w="17780">
            <a:solidFill>
              <a:srgbClr val="8996A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948672" y="2395728"/>
            <a:ext cx="1463040" cy="1078992"/>
          </a:xfrm>
          <a:prstGeom prst="roundRect">
            <a:avLst>
              <a:gd name="adj" fmla="val 5085"/>
            </a:avLst>
          </a:prstGeom>
          <a:solidFill>
            <a:srgbClr val="F2F5FA"/>
          </a:solidFill>
          <a:ln w="12700">
            <a:solidFill>
              <a:srgbClr val="8996A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03536" y="2441448"/>
            <a:ext cx="13533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hears it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021824" y="2962656"/>
            <a:ext cx="13167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over RTC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377440" y="4352544"/>
            <a:ext cx="7406640" cy="1005840"/>
          </a:xfrm>
          <a:prstGeom prst="roundRect">
            <a:avLst>
              <a:gd name="adj" fmla="val 4545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651760" y="44988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C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language setting  →  18 languages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2651760" y="4791456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speech-to-text language code, the voice, and an output-language rule inside the prompt. No provider choice appears anywhere in the UI — both vendors run on Agora’s managed credentials, so adding a language costs nothing.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60520" y="4297680"/>
            <a:ext cx="0" cy="-640080"/>
          </a:xfrm>
          <a:prstGeom prst="line">
            <a:avLst/>
          </a:prstGeom>
          <a:noFill/>
          <a:ln w="17780">
            <a:solidFill>
              <a:srgbClr val="9C7A33"/>
            </a:solidFill>
            <a:prstDash val="dash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309360" y="4297680"/>
            <a:ext cx="0" cy="-640080"/>
          </a:xfrm>
          <a:prstGeom prst="line">
            <a:avLst/>
          </a:prstGeom>
          <a:noFill/>
          <a:ln w="17780">
            <a:solidFill>
              <a:srgbClr val="9C7A33"/>
            </a:solidFill>
            <a:prstDash val="dash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275320" y="4297680"/>
            <a:ext cx="0" cy="-640080"/>
          </a:xfrm>
          <a:prstGeom prst="line">
            <a:avLst/>
          </a:prstGeom>
          <a:noFill/>
          <a:ln w="17780">
            <a:solidFill>
              <a:srgbClr val="9C7A33"/>
            </a:solidFill>
            <a:prstDash val="dash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777240" y="5760720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Greetings and fallback lines go to the voice engine word-for-word — the model never sees them — so they ship pre-written in all 18 languages.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2C5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AGENT SWAPPER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68096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agent, four personas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26464"/>
            <a:ext cx="9720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decides who speaks. The swapper is how that reaches the voice pipeline.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7510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one live AI for the entire interview. Nothing disconnects when the panel changes hands.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432304"/>
            <a:ext cx="5120640" cy="2651760"/>
          </a:xfrm>
          <a:prstGeom prst="roundRect">
            <a:avLst>
              <a:gd name="adj" fmla="val 1724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88136" y="26334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2C5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SWAPPED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88136" y="3145536"/>
            <a:ext cx="91440" cy="91440"/>
          </a:xfrm>
          <a:prstGeom prst="ellipse">
            <a:avLst/>
          </a:prstGeom>
          <a:solidFill>
            <a:srgbClr val="2C5B9E"/>
          </a:solidFill>
          <a:ln w="12700">
            <a:solidFill>
              <a:srgbClr val="2C5B9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44168" y="307238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— persona, style, constraints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88136" y="3575304"/>
            <a:ext cx="91440" cy="91440"/>
          </a:xfrm>
          <a:prstGeom prst="ellipse">
            <a:avLst/>
          </a:prstGeom>
          <a:solidFill>
            <a:srgbClr val="2C5B9E"/>
          </a:solidFill>
          <a:ln w="12700">
            <a:solidFill>
              <a:srgbClr val="2C5B9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44168" y="350215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 and fallback lines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88136" y="4005072"/>
            <a:ext cx="91440" cy="91440"/>
          </a:xfrm>
          <a:prstGeom prst="ellipse">
            <a:avLst/>
          </a:prstGeom>
          <a:solidFill>
            <a:srgbClr val="2C5B9E"/>
          </a:solidFill>
          <a:ln w="12700">
            <a:solidFill>
              <a:srgbClr val="2C5B9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44168" y="39319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bank in play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88136" y="4434840"/>
            <a:ext cx="91440" cy="91440"/>
          </a:xfrm>
          <a:prstGeom prst="ellipse">
            <a:avLst/>
          </a:prstGeom>
          <a:solidFill>
            <a:srgbClr val="2C5B9E"/>
          </a:solidFill>
          <a:ln w="12700">
            <a:solidFill>
              <a:srgbClr val="2C5B9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44168" y="436168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competencies are judged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2432304"/>
            <a:ext cx="5148072" cy="2651760"/>
          </a:xfrm>
          <a:prstGeom prst="roundRect">
            <a:avLst>
              <a:gd name="adj" fmla="val 1724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74536" y="26334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C7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UNCHANGED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74536" y="3145536"/>
            <a:ext cx="91440" cy="91440"/>
          </a:xfrm>
          <a:prstGeom prst="ellipse">
            <a:avLst/>
          </a:prstGeom>
          <a:solidFill>
            <a:srgbClr val="9C7A33"/>
          </a:solidFill>
          <a:ln w="12700">
            <a:solidFill>
              <a:srgbClr val="9C7A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30568" y="307238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RTC / RTM connection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74536" y="3575304"/>
            <a:ext cx="91440" cy="91440"/>
          </a:xfrm>
          <a:prstGeom prst="ellipse">
            <a:avLst/>
          </a:prstGeom>
          <a:solidFill>
            <a:srgbClr val="9C7A33"/>
          </a:solidFill>
          <a:ln w="12700">
            <a:solidFill>
              <a:srgbClr val="9C7A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30568" y="350215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language — fixed at join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74536" y="4005072"/>
            <a:ext cx="91440" cy="91440"/>
          </a:xfrm>
          <a:prstGeom prst="ellipse">
            <a:avLst/>
          </a:prstGeom>
          <a:solidFill>
            <a:srgbClr val="9C7A33"/>
          </a:solidFill>
          <a:ln w="12700">
            <a:solidFill>
              <a:srgbClr val="9C7A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30568" y="393192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voice — the whole panel shares one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74536" y="4434840"/>
            <a:ext cx="91440" cy="91440"/>
          </a:xfrm>
          <a:prstGeom prst="ellipse">
            <a:avLst/>
          </a:prstGeom>
          <a:solidFill>
            <a:srgbClr val="9C7A33"/>
          </a:solidFill>
          <a:ln w="12700">
            <a:solidFill>
              <a:srgbClr val="9C7A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30568" y="436168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— carries over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" y="5440680"/>
            <a:ext cx="106344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61441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consequences,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160520" y="5614416"/>
            <a:ext cx="7251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interviewer sounds the same. And the incoming one can see the last few exchanges — which is mostly a feature: a panel member who was in the room does know what has already been asked.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2C5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CONFIGURATION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68096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can tune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26464"/>
            <a:ext cx="9720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below is a field in the builder. None of it needs code.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2139696"/>
            <a:ext cx="128016" cy="128016"/>
          </a:xfrm>
          <a:prstGeom prst="ellipse">
            <a:avLst/>
          </a:prstGeom>
          <a:solidFill>
            <a:srgbClr val="2C5B9E"/>
          </a:solidFill>
          <a:ln w="12700">
            <a:solidFill>
              <a:srgbClr val="2C5B9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" y="2057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voice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240487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role, colour   ·   Panel language — 18 available   ·   Greeting and fallback lines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3191256"/>
            <a:ext cx="4937760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2139696"/>
            <a:ext cx="128016" cy="128016"/>
          </a:xfrm>
          <a:prstGeom prst="ellipse">
            <a:avLst/>
          </a:prstGeom>
          <a:solidFill>
            <a:srgbClr val="2C5B9E"/>
          </a:solidFill>
          <a:ln w="12700">
            <a:solidFill>
              <a:srgbClr val="2C5B9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65392" y="2057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240487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  ·   Role-play scenario brief   ·   Loop until satisfied   ·   Contradiction probing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3191256"/>
            <a:ext cx="4937760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511296"/>
            <a:ext cx="128016" cy="128016"/>
          </a:xfrm>
          <a:prstGeom prst="ellipse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33272" y="3429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logic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033272" y="377647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band, 1–10   ·   Follow-up aggressiveness   ·   Max turns per visit   ·   Max revisits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4562856"/>
            <a:ext cx="4937760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511296"/>
            <a:ext cx="128016" cy="128016"/>
          </a:xfrm>
          <a:prstGeom prst="ellipse">
            <a:avLst/>
          </a:prstGeom>
          <a:solidFill>
            <a:srgbClr val="9C7A33"/>
          </a:solidFill>
          <a:ln w="12700">
            <a:solidFill>
              <a:srgbClr val="9C7A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65392" y="3429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565392" y="377647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Q&amp;A — CSV, JSON, Markdown   ·   An ideal answer per question   ·   Strict or guided mode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4562856"/>
            <a:ext cx="4937760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882896"/>
            <a:ext cx="128016" cy="128016"/>
          </a:xfrm>
          <a:prstGeom prst="ellipse">
            <a:avLst/>
          </a:prstGeom>
          <a:solidFill>
            <a:srgbClr val="9C7A33"/>
          </a:solidFill>
          <a:ln w="12700">
            <a:solidFill>
              <a:srgbClr val="9C7A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3272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Turn-taking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033272" y="514807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opens the interview   ·   Handoff triggers, in plain English   ·   Priority in the queue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4882896"/>
            <a:ext cx="128016" cy="128016"/>
          </a:xfrm>
          <a:prstGeom prst="ellipse">
            <a:avLst/>
          </a:prstGeom>
          <a:solidFill>
            <a:srgbClr val="9C7A33"/>
          </a:solidFill>
          <a:ln w="12700">
            <a:solidFill>
              <a:srgbClr val="9C7A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65392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6565392" y="514807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Competencies, per interviewer   ·   A weight for each   ·   A pass mark for each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7240" y="5806440"/>
            <a:ext cx="106344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5980176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defaults are chosen so a panel runs before anything is touched: the first interviewer opens, every role arrives with competencies, and every competency arrives with a pass mark.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2C5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TECHNOLOGY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68096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 built on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26464"/>
            <a:ext cx="9720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so the entire speech stack needs no vendor keys of its own.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2130552"/>
            <a:ext cx="118872" cy="118872"/>
          </a:xfrm>
          <a:prstGeom prst="ellipse">
            <a:avLst/>
          </a:prstGeom>
          <a:solidFill>
            <a:srgbClr val="2C5B9E"/>
          </a:solidFill>
          <a:ln w="12700">
            <a:solidFill>
              <a:srgbClr val="2C5B9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4984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2C5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205740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33172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React 19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910328" y="205740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910328" y="233172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mode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123176" y="205740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123176" y="233172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state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336024" y="205740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4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336024" y="233172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2862072"/>
            <a:ext cx="106344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154680"/>
            <a:ext cx="118872" cy="118872"/>
          </a:xfrm>
          <a:prstGeom prst="ellipse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4984" y="3081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1F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308152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335584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910328" y="308152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910328" y="335584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123176" y="308152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Agents SDK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123176" y="335584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336024" y="308152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336024" y="335584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services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7240" y="3886200"/>
            <a:ext cx="106344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178808"/>
            <a:ext cx="118872" cy="118872"/>
          </a:xfrm>
          <a:prstGeom prst="ellipse">
            <a:avLst/>
          </a:prstGeom>
          <a:solidFill>
            <a:srgbClr val="9C7A33"/>
          </a:solidFill>
          <a:ln w="12700">
            <a:solidFill>
              <a:srgbClr val="9C7A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14984" y="41056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9C7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&amp; SPEECH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697480" y="410565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 nova-3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2697480" y="437997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to text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910328" y="410565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speech-2.6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910328" y="437997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to speech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123176" y="410565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gpt-oss-20b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123176" y="437997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interviewer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336024" y="410565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gpt-oss-120b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9336024" y="437997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7240" y="4910328"/>
            <a:ext cx="106344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7240" y="5202936"/>
            <a:ext cx="118872" cy="118872"/>
          </a:xfrm>
          <a:prstGeom prst="ellipse">
            <a:avLst/>
          </a:prstGeom>
          <a:solidFill>
            <a:srgbClr val="9C7A33"/>
          </a:solidFill>
          <a:ln w="12700">
            <a:solidFill>
              <a:srgbClr val="9C7A3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14984" y="51297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9C7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2697480" y="512978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2697480" y="5404104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panels, reports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910328" y="512978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4910328" y="5404104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sign-in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123176" y="512978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7123176" y="5404104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boundary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9336024" y="512978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columns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9336024" y="5404104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9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migrations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77240" y="5715000"/>
            <a:ext cx="10634472" cy="68580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51560" y="5888736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 and MiniMax both run on Agora’s managed credentials. Knowledge-base retrieval is TF-IDF over the standard library — no vector database, because at panel scale it would not earn one.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2C5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ROADMAP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68096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26464"/>
            <a:ext cx="9720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by what would change the product most, not by what is easiest.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2130552"/>
            <a:ext cx="118872" cy="118872"/>
          </a:xfrm>
          <a:prstGeom prst="ellipse">
            <a:avLst/>
          </a:prstGeom>
          <a:solidFill>
            <a:srgbClr val="2C5B9E"/>
          </a:solidFill>
          <a:ln w="12700">
            <a:solidFill>
              <a:srgbClr val="2C5B9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4984" y="2057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2C5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2057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sessions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2368296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session state to Redis. An interview does not survive a backend restart today, and a second worker cannot see it.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2057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voices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2368296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concurrent agents in the channel instead of persona swapping. The single biggest change to how the panel feels.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154680"/>
            <a:ext cx="106344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456432"/>
            <a:ext cx="118872" cy="118872"/>
          </a:xfrm>
          <a:prstGeom prst="ellipse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14984" y="3383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1F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3383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via MCP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3694176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SDK supports it natively. Best first build is rubric lookup over the retriever that already exists.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3383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execution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3694176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DSA interviewer that cannot watch code run is grading a description of a solution.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4480560"/>
            <a:ext cx="106344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800600"/>
            <a:ext cx="10634472" cy="1463040"/>
          </a:xfrm>
          <a:prstGeom prst="roundRect">
            <a:avLst>
              <a:gd name="adj" fmla="val 3125"/>
            </a:avLst>
          </a:prstGeom>
          <a:solidFill>
            <a:srgbClr val="FBF6EA"/>
          </a:solidFill>
          <a:ln w="6350">
            <a:solidFill>
              <a:srgbClr val="FBF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8136" y="5056632"/>
            <a:ext cx="118872" cy="118872"/>
          </a:xfrm>
          <a:prstGeom prst="ellipse">
            <a:avLst/>
          </a:prstGeom>
          <a:solidFill>
            <a:srgbClr val="9C7A33"/>
          </a:solidFill>
          <a:ln w="12700">
            <a:solidFill>
              <a:srgbClr val="9C7A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344168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9C7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ANY REAL HIRING USE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088136" y="543153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agreement study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88136" y="572414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people score the same answers, then measure the correlation. Until that exists these are practice scores, not a hiring instrument.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437376" y="543153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impact checks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37376" y="572414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C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distributions by first language and accent. “We never checked” is not a defensible position.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6D9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IDEA IN ONE RULE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560320"/>
            <a:ext cx="9692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300" dirty="0">
                <a:solidFill>
                  <a:srgbClr val="F5F8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 plays every interviewer.</a:t>
            </a:r>
            <a:endParaRPr lang="en-US" sz="33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3300" dirty="0">
                <a:solidFill>
                  <a:srgbClr val="F5F8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Ordinary code decides who speaks</a:t>
            </a:r>
            <a:endParaRPr lang="en-US" sz="33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3300" dirty="0">
                <a:solidFill>
                  <a:srgbClr val="F5F8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what gets asked.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4754880"/>
            <a:ext cx="6583680" cy="0"/>
          </a:xfrm>
          <a:prstGeom prst="line">
            <a:avLst/>
          </a:prstGeom>
          <a:noFill/>
          <a:ln w="12700">
            <a:solidFill>
              <a:srgbClr val="3550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49834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3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only chooses how to say it. That split is what makes the panel controllable — staying inside your question bank is a guarantee, not a request.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Interview Platform</dc:title>
  <dc:subject>PptxGenJS Presentation</dc:subject>
  <dc:creator>Adaptive Interview Platform</dc:creator>
  <cp:lastModifiedBy>Adaptive Interview Platform</cp:lastModifiedBy>
  <cp:revision>1</cp:revision>
  <dcterms:created xsi:type="dcterms:W3CDTF">2026-08-31T13:31:07Z</dcterms:created>
  <dcterms:modified xsi:type="dcterms:W3CDTF">2026-08-31T13:31:07Z</dcterms:modified>
</cp:coreProperties>
</file>